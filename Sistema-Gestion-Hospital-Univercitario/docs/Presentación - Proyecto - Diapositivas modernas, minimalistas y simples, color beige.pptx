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 Italics" charset="1" panose="00000500000000000000"/>
      <p:regular r:id="rId18"/>
    </p:embeddedFont>
    <p:embeddedFont>
      <p:font typeface="Poppins" charset="1" panose="00000500000000000000"/>
      <p:regular r:id="rId19"/>
    </p:embeddedFont>
    <p:embeddedFont>
      <p:font typeface="Open Sans Bold" charset="1" panose="020B0806030504020204"/>
      <p:regular r:id="rId20"/>
    </p:embeddedFont>
    <p:embeddedFont>
      <p:font typeface="Open Sans" charset="1" panose="020B0606030504020204"/>
      <p:regular r:id="rId21"/>
    </p:embeddedFont>
    <p:embeddedFont>
      <p:font typeface="Poppins Bold Italics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jpeg" Type="http://schemas.openxmlformats.org/officeDocument/2006/relationships/image"/><Relationship Id="rId8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jpe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9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82451" y="1790965"/>
            <a:ext cx="10091166" cy="10797940"/>
          </a:xfrm>
          <a:custGeom>
            <a:avLst/>
            <a:gdLst/>
            <a:ahLst/>
            <a:cxnLst/>
            <a:rect r="r" b="b" t="t" l="l"/>
            <a:pathLst>
              <a:path h="10797940" w="10091166">
                <a:moveTo>
                  <a:pt x="0" y="0"/>
                </a:moveTo>
                <a:lnTo>
                  <a:pt x="10091166" y="0"/>
                </a:lnTo>
                <a:lnTo>
                  <a:pt x="10091166" y="10797940"/>
                </a:lnTo>
                <a:lnTo>
                  <a:pt x="0" y="10797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751862">
            <a:off x="-2702194" y="-2390221"/>
            <a:ext cx="9868183" cy="5902967"/>
          </a:xfrm>
          <a:custGeom>
            <a:avLst/>
            <a:gdLst/>
            <a:ahLst/>
            <a:cxnLst/>
            <a:rect r="r" b="b" t="t" l="l"/>
            <a:pathLst>
              <a:path h="5902967" w="9868183">
                <a:moveTo>
                  <a:pt x="0" y="0"/>
                </a:moveTo>
                <a:lnTo>
                  <a:pt x="9868183" y="0"/>
                </a:lnTo>
                <a:lnTo>
                  <a:pt x="9868183" y="5902968"/>
                </a:lnTo>
                <a:lnTo>
                  <a:pt x="0" y="5902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4474669" y="1924315"/>
            <a:ext cx="9338662" cy="2508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0"/>
              </a:lnSpc>
            </a:pPr>
            <a:r>
              <a:rPr lang="en-US" b="true" sz="6945" spc="-6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SISTEMA DE G</a:t>
            </a:r>
            <a:r>
              <a:rPr lang="en-US" b="true" sz="6945" spc="-6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ESTIÓN</a:t>
            </a:r>
          </a:p>
          <a:p>
            <a:pPr algn="ctr">
              <a:lnSpc>
                <a:spcPts val="6250"/>
              </a:lnSpc>
            </a:pPr>
            <a:r>
              <a:rPr lang="en-US" b="true" sz="6945" spc="-6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HOSPITAL UNIVERSITARIO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13752" y="5259824"/>
            <a:ext cx="3809551" cy="252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2"/>
              </a:lnSpc>
            </a:pPr>
            <a:r>
              <a:rPr lang="en-US" sz="3847" i="true" spc="-257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Jasson Samudio</a:t>
            </a:r>
          </a:p>
          <a:p>
            <a:pPr algn="ctr">
              <a:lnSpc>
                <a:spcPts val="4962"/>
              </a:lnSpc>
            </a:pPr>
            <a:r>
              <a:rPr lang="en-US" sz="3847" i="true" spc="-257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Jafeth Guevara</a:t>
            </a:r>
          </a:p>
          <a:p>
            <a:pPr algn="ctr">
              <a:lnSpc>
                <a:spcPts val="4962"/>
              </a:lnSpc>
            </a:pPr>
            <a:r>
              <a:rPr lang="en-US" sz="3847" i="true" spc="-257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Luis Zhong</a:t>
            </a:r>
          </a:p>
          <a:p>
            <a:pPr algn="ctr">
              <a:lnSpc>
                <a:spcPts val="4962"/>
              </a:lnSpc>
            </a:pPr>
            <a:r>
              <a:rPr lang="en-US" sz="3847" i="true" spc="-257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Dilan Gonzales </a:t>
            </a:r>
          </a:p>
        </p:txBody>
      </p:sp>
      <p:sp>
        <p:nvSpPr>
          <p:cNvPr name="AutoShape 6" id="6"/>
          <p:cNvSpPr/>
          <p:nvPr/>
        </p:nvSpPr>
        <p:spPr>
          <a:xfrm>
            <a:off x="-1014223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12192510" y="92773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06471" y="-2135258"/>
            <a:ext cx="8875059" cy="8229600"/>
          </a:xfrm>
          <a:custGeom>
            <a:avLst/>
            <a:gdLst/>
            <a:ahLst/>
            <a:cxnLst/>
            <a:rect r="r" b="b" t="t" l="l"/>
            <a:pathLst>
              <a:path h="8229600" w="8875059">
                <a:moveTo>
                  <a:pt x="0" y="0"/>
                </a:moveTo>
                <a:lnTo>
                  <a:pt x="8875058" y="0"/>
                </a:lnTo>
                <a:lnTo>
                  <a:pt x="88750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752162" y="2927830"/>
            <a:ext cx="8875059" cy="8229600"/>
          </a:xfrm>
          <a:custGeom>
            <a:avLst/>
            <a:gdLst/>
            <a:ahLst/>
            <a:cxnLst/>
            <a:rect r="r" b="b" t="t" l="l"/>
            <a:pathLst>
              <a:path h="8229600" w="8875059">
                <a:moveTo>
                  <a:pt x="0" y="0"/>
                </a:moveTo>
                <a:lnTo>
                  <a:pt x="8875059" y="0"/>
                </a:lnTo>
                <a:lnTo>
                  <a:pt x="887505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-814427" y="781351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733958" y="4718418"/>
            <a:ext cx="5309419" cy="4114800"/>
          </a:xfrm>
          <a:custGeom>
            <a:avLst/>
            <a:gdLst/>
            <a:ahLst/>
            <a:cxnLst/>
            <a:rect r="r" b="b" t="t" l="l"/>
            <a:pathLst>
              <a:path h="4114800" w="5309419">
                <a:moveTo>
                  <a:pt x="0" y="0"/>
                </a:moveTo>
                <a:lnTo>
                  <a:pt x="5309419" y="0"/>
                </a:lnTo>
                <a:lnTo>
                  <a:pt x="53094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93722" y="1232782"/>
            <a:ext cx="8500557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 spc="-6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¿QUE ES EL SISTEMA?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68040" y="2842105"/>
            <a:ext cx="11551920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un sistema desarrollado en Java que permite organizar la información de un hospital universitario.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67202" y="4196130"/>
            <a:ext cx="5410611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-4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DISEÑADO  PARA: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7961" y="5057775"/>
            <a:ext cx="10917754" cy="298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Organizar diferentes procesos relacionados con la atención médica y la administración hospitalaria.</a:t>
            </a:r>
          </a:p>
          <a:p>
            <a:pPr algn="just">
              <a:lnSpc>
                <a:spcPts val="3919"/>
              </a:lnSpc>
            </a:pPr>
            <a:r>
              <a:rPr lang="en-US" sz="2799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sistema contempla la gestión de pacientes, médicos, citas, tratamientos, historiales clínicos, recetas, medicamentos y farmacia.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59896" y="-6763376"/>
            <a:ext cx="11148473" cy="8229600"/>
          </a:xfrm>
          <a:custGeom>
            <a:avLst/>
            <a:gdLst/>
            <a:ahLst/>
            <a:cxnLst/>
            <a:rect r="r" b="b" t="t" l="l"/>
            <a:pathLst>
              <a:path h="8229600" w="11148473">
                <a:moveTo>
                  <a:pt x="0" y="0"/>
                </a:moveTo>
                <a:lnTo>
                  <a:pt x="11148473" y="0"/>
                </a:lnTo>
                <a:lnTo>
                  <a:pt x="111484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814571" y="-335680"/>
            <a:ext cx="5799233" cy="10958360"/>
            <a:chOff x="0" y="0"/>
            <a:chExt cx="898453" cy="16977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8453" cy="1697737"/>
            </a:xfrm>
            <a:custGeom>
              <a:avLst/>
              <a:gdLst/>
              <a:ahLst/>
              <a:cxnLst/>
              <a:rect r="r" b="b" t="t" l="l"/>
              <a:pathLst>
                <a:path h="1697737" w="898453">
                  <a:moveTo>
                    <a:pt x="0" y="0"/>
                  </a:moveTo>
                  <a:lnTo>
                    <a:pt x="898453" y="0"/>
                  </a:lnTo>
                  <a:lnTo>
                    <a:pt x="898453" y="1697737"/>
                  </a:lnTo>
                  <a:lnTo>
                    <a:pt x="0" y="1697737"/>
                  </a:lnTo>
                  <a:close/>
                </a:path>
              </a:pathLst>
            </a:custGeom>
            <a:blipFill>
              <a:blip r:embed="rId3"/>
              <a:stretch>
                <a:fillRect l="-92076" t="0" r="-92076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488767" y="6843560"/>
            <a:ext cx="11148473" cy="8229600"/>
          </a:xfrm>
          <a:custGeom>
            <a:avLst/>
            <a:gdLst/>
            <a:ahLst/>
            <a:cxnLst/>
            <a:rect r="r" b="b" t="t" l="l"/>
            <a:pathLst>
              <a:path h="8229600" w="11148473">
                <a:moveTo>
                  <a:pt x="0" y="0"/>
                </a:moveTo>
                <a:lnTo>
                  <a:pt x="11148473" y="0"/>
                </a:lnTo>
                <a:lnTo>
                  <a:pt x="111484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-1064956" y="705251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7" id="7"/>
          <p:cNvSpPr txBox="true"/>
          <p:nvPr/>
        </p:nvSpPr>
        <p:spPr>
          <a:xfrm rot="0">
            <a:off x="654809" y="1664335"/>
            <a:ext cx="7912386" cy="204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5"/>
              </a:lnSpc>
              <a:spcBef>
                <a:spcPct val="0"/>
              </a:spcBef>
            </a:pPr>
            <a:r>
              <a:rPr lang="en-US" sz="2310" spc="-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Desarrollar un sistema que permita representar y organizar los principales procesos de un hospital mediante la programación orientada a objetos, facilitando la administración de la información y la relación entre sus diferentes componentes.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8164" y="904875"/>
            <a:ext cx="9297675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439"/>
              </a:lnSpc>
              <a:spcBef>
                <a:spcPct val="0"/>
              </a:spcBef>
            </a:pPr>
            <a:r>
              <a:rPr lang="en-US" b="true" sz="4599" spc="-413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 GENERAL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809" y="4354679"/>
            <a:ext cx="7912386" cy="4903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2310" spc="-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sistema tiene como finalidad:</a:t>
            </a:r>
          </a:p>
          <a:p>
            <a:pPr algn="l" marL="498901" indent="-249450" lvl="1">
              <a:lnSpc>
                <a:spcPts val="3235"/>
              </a:lnSpc>
              <a:buFont typeface="Arial"/>
              <a:buChar char="•"/>
            </a:pPr>
            <a:r>
              <a:rPr lang="en-US" sz="2310" spc="-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Organizar la información de los pacientes y del personal médico.</a:t>
            </a:r>
          </a:p>
          <a:p>
            <a:pPr algn="l" marL="498901" indent="-249450" lvl="1">
              <a:lnSpc>
                <a:spcPts val="3235"/>
              </a:lnSpc>
              <a:buFont typeface="Arial"/>
              <a:buChar char="•"/>
            </a:pPr>
            <a:r>
              <a:rPr lang="en-US" sz="2310" spc="-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Representar las relaciones entre las diferentes áreas del hospital.</a:t>
            </a:r>
          </a:p>
          <a:p>
            <a:pPr algn="l" marL="498901" indent="-249450" lvl="1">
              <a:lnSpc>
                <a:spcPts val="3235"/>
              </a:lnSpc>
              <a:buFont typeface="Arial"/>
              <a:buChar char="•"/>
            </a:pPr>
            <a:r>
              <a:rPr lang="en-US" sz="2310" spc="-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Facilitar el registro y seguimiento de citas, tratamientos e historiales clínicos.</a:t>
            </a:r>
          </a:p>
          <a:p>
            <a:pPr algn="l" marL="498901" indent="-249450" lvl="1">
              <a:lnSpc>
                <a:spcPts val="3235"/>
              </a:lnSpc>
              <a:buFont typeface="Arial"/>
              <a:buChar char="•"/>
            </a:pPr>
            <a:r>
              <a:rPr lang="en-US" sz="2310" spc="-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Representar la gestión de recetas, medicamentos e inventario.</a:t>
            </a:r>
          </a:p>
          <a:p>
            <a:pPr algn="l" marL="498901" indent="-249450" lvl="1">
              <a:lnSpc>
                <a:spcPts val="3235"/>
              </a:lnSpc>
              <a:buFont typeface="Arial"/>
              <a:buChar char="•"/>
            </a:pPr>
            <a:r>
              <a:rPr lang="en-US" sz="2310" spc="-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Aplicar los principios de la programación orientada a objetos en el desarrollo del proyecto.</a:t>
            </a:r>
          </a:p>
          <a:p>
            <a:pPr algn="l" marL="0" indent="0" lvl="0">
              <a:lnSpc>
                <a:spcPts val="32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078" y="53641"/>
            <a:ext cx="651050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spc="-6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DIAGRAMA UML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057535" y="5930362"/>
            <a:ext cx="11148473" cy="8229600"/>
          </a:xfrm>
          <a:custGeom>
            <a:avLst/>
            <a:gdLst/>
            <a:ahLst/>
            <a:cxnLst/>
            <a:rect r="r" b="b" t="t" l="l"/>
            <a:pathLst>
              <a:path h="8229600" w="11148473">
                <a:moveTo>
                  <a:pt x="0" y="0"/>
                </a:moveTo>
                <a:lnTo>
                  <a:pt x="11148473" y="0"/>
                </a:lnTo>
                <a:lnTo>
                  <a:pt x="111484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14531" y="-6654165"/>
            <a:ext cx="11148473" cy="8229600"/>
          </a:xfrm>
          <a:custGeom>
            <a:avLst/>
            <a:gdLst/>
            <a:ahLst/>
            <a:cxnLst/>
            <a:rect r="r" b="b" t="t" l="l"/>
            <a:pathLst>
              <a:path h="8229600" w="11148473">
                <a:moveTo>
                  <a:pt x="0" y="0"/>
                </a:moveTo>
                <a:lnTo>
                  <a:pt x="11148473" y="0"/>
                </a:lnTo>
                <a:lnTo>
                  <a:pt x="111484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43420" y="2487479"/>
            <a:ext cx="3835728" cy="2459407"/>
          </a:xfrm>
          <a:custGeom>
            <a:avLst/>
            <a:gdLst/>
            <a:ahLst/>
            <a:cxnLst/>
            <a:rect r="r" b="b" t="t" l="l"/>
            <a:pathLst>
              <a:path h="2459407" w="3835728">
                <a:moveTo>
                  <a:pt x="0" y="0"/>
                </a:moveTo>
                <a:lnTo>
                  <a:pt x="3835728" y="0"/>
                </a:lnTo>
                <a:lnTo>
                  <a:pt x="3835728" y="2459406"/>
                </a:lnTo>
                <a:lnTo>
                  <a:pt x="0" y="2459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8395" y="2487479"/>
            <a:ext cx="3935025" cy="2459407"/>
          </a:xfrm>
          <a:custGeom>
            <a:avLst/>
            <a:gdLst/>
            <a:ahLst/>
            <a:cxnLst/>
            <a:rect r="r" b="b" t="t" l="l"/>
            <a:pathLst>
              <a:path h="2459407" w="3935025">
                <a:moveTo>
                  <a:pt x="0" y="0"/>
                </a:moveTo>
                <a:lnTo>
                  <a:pt x="3935025" y="0"/>
                </a:lnTo>
                <a:lnTo>
                  <a:pt x="3935025" y="2459406"/>
                </a:lnTo>
                <a:lnTo>
                  <a:pt x="0" y="2459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90" t="0" r="-179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79148" y="2511466"/>
            <a:ext cx="4324164" cy="2411432"/>
          </a:xfrm>
          <a:custGeom>
            <a:avLst/>
            <a:gdLst/>
            <a:ahLst/>
            <a:cxnLst/>
            <a:rect r="r" b="b" t="t" l="l"/>
            <a:pathLst>
              <a:path h="2411432" w="4324164">
                <a:moveTo>
                  <a:pt x="0" y="0"/>
                </a:moveTo>
                <a:lnTo>
                  <a:pt x="4324164" y="0"/>
                </a:lnTo>
                <a:lnTo>
                  <a:pt x="4324164" y="2411432"/>
                </a:lnTo>
                <a:lnTo>
                  <a:pt x="0" y="2411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44217" y="4946885"/>
            <a:ext cx="3316648" cy="3830104"/>
          </a:xfrm>
          <a:custGeom>
            <a:avLst/>
            <a:gdLst/>
            <a:ahLst/>
            <a:cxnLst/>
            <a:rect r="r" b="b" t="t" l="l"/>
            <a:pathLst>
              <a:path h="3830104" w="3316648">
                <a:moveTo>
                  <a:pt x="0" y="0"/>
                </a:moveTo>
                <a:lnTo>
                  <a:pt x="3316648" y="0"/>
                </a:lnTo>
                <a:lnTo>
                  <a:pt x="3316648" y="3830104"/>
                </a:lnTo>
                <a:lnTo>
                  <a:pt x="0" y="38301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91781" y="1347136"/>
            <a:ext cx="5087917" cy="3383465"/>
          </a:xfrm>
          <a:custGeom>
            <a:avLst/>
            <a:gdLst/>
            <a:ahLst/>
            <a:cxnLst/>
            <a:rect r="r" b="b" t="t" l="l"/>
            <a:pathLst>
              <a:path h="3383465" w="5087917">
                <a:moveTo>
                  <a:pt x="0" y="0"/>
                </a:moveTo>
                <a:lnTo>
                  <a:pt x="5087918" y="0"/>
                </a:lnTo>
                <a:lnTo>
                  <a:pt x="5087918" y="3383465"/>
                </a:lnTo>
                <a:lnTo>
                  <a:pt x="0" y="33834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91781" y="5038442"/>
            <a:ext cx="5004417" cy="3327938"/>
          </a:xfrm>
          <a:custGeom>
            <a:avLst/>
            <a:gdLst/>
            <a:ahLst/>
            <a:cxnLst/>
            <a:rect r="r" b="b" t="t" l="l"/>
            <a:pathLst>
              <a:path h="3327938" w="5004417">
                <a:moveTo>
                  <a:pt x="0" y="0"/>
                </a:moveTo>
                <a:lnTo>
                  <a:pt x="5004418" y="0"/>
                </a:lnTo>
                <a:lnTo>
                  <a:pt x="5004418" y="3327938"/>
                </a:lnTo>
                <a:lnTo>
                  <a:pt x="0" y="332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93078" y="1270936"/>
            <a:ext cx="5807418" cy="66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sz="388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Personal Médico y Citas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14531" y="5483846"/>
            <a:ext cx="5604699" cy="2389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Esta sección muestra cómo se organiza el personal médico del hospital. Los médicos están relacionados con sus especialidades y departamentos, y participan en la atención de los pacientes mediante las citas médicas.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319919">
            <a:off x="7047093" y="-1396176"/>
            <a:ext cx="11728836" cy="12456206"/>
          </a:xfrm>
          <a:custGeom>
            <a:avLst/>
            <a:gdLst/>
            <a:ahLst/>
            <a:cxnLst/>
            <a:rect r="r" b="b" t="t" l="l"/>
            <a:pathLst>
              <a:path h="12456206" w="11728836">
                <a:moveTo>
                  <a:pt x="0" y="0"/>
                </a:moveTo>
                <a:lnTo>
                  <a:pt x="11728836" y="0"/>
                </a:lnTo>
                <a:lnTo>
                  <a:pt x="11728836" y="12456206"/>
                </a:lnTo>
                <a:lnTo>
                  <a:pt x="0" y="12456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5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751862">
            <a:off x="-2702194" y="-2390221"/>
            <a:ext cx="9868183" cy="5902967"/>
          </a:xfrm>
          <a:custGeom>
            <a:avLst/>
            <a:gdLst/>
            <a:ahLst/>
            <a:cxnLst/>
            <a:rect r="r" b="b" t="t" l="l"/>
            <a:pathLst>
              <a:path h="5902967" w="9868183">
                <a:moveTo>
                  <a:pt x="0" y="0"/>
                </a:moveTo>
                <a:lnTo>
                  <a:pt x="9868183" y="0"/>
                </a:lnTo>
                <a:lnTo>
                  <a:pt x="9868183" y="5902968"/>
                </a:lnTo>
                <a:lnTo>
                  <a:pt x="0" y="5902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4" id="4"/>
          <p:cNvSpPr/>
          <p:nvPr/>
        </p:nvSpPr>
        <p:spPr>
          <a:xfrm>
            <a:off x="12192510" y="92773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754939" y="5428733"/>
            <a:ext cx="3867783" cy="2671721"/>
          </a:xfrm>
          <a:custGeom>
            <a:avLst/>
            <a:gdLst/>
            <a:ahLst/>
            <a:cxnLst/>
            <a:rect r="r" b="b" t="t" l="l"/>
            <a:pathLst>
              <a:path h="2671721" w="3867783">
                <a:moveTo>
                  <a:pt x="0" y="0"/>
                </a:moveTo>
                <a:lnTo>
                  <a:pt x="3867783" y="0"/>
                </a:lnTo>
                <a:lnTo>
                  <a:pt x="3867783" y="2671722"/>
                </a:lnTo>
                <a:lnTo>
                  <a:pt x="0" y="2671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80718" y="2762332"/>
            <a:ext cx="3920637" cy="2689567"/>
          </a:xfrm>
          <a:custGeom>
            <a:avLst/>
            <a:gdLst/>
            <a:ahLst/>
            <a:cxnLst/>
            <a:rect r="r" b="b" t="t" l="l"/>
            <a:pathLst>
              <a:path h="2689567" w="3920637">
                <a:moveTo>
                  <a:pt x="0" y="0"/>
                </a:moveTo>
                <a:lnTo>
                  <a:pt x="3920636" y="0"/>
                </a:lnTo>
                <a:lnTo>
                  <a:pt x="3920636" y="2689566"/>
                </a:lnTo>
                <a:lnTo>
                  <a:pt x="0" y="26895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4269" y="2762332"/>
            <a:ext cx="3616449" cy="2689567"/>
          </a:xfrm>
          <a:custGeom>
            <a:avLst/>
            <a:gdLst/>
            <a:ahLst/>
            <a:cxnLst/>
            <a:rect r="r" b="b" t="t" l="l"/>
            <a:pathLst>
              <a:path h="2689567" w="3616449">
                <a:moveTo>
                  <a:pt x="0" y="0"/>
                </a:moveTo>
                <a:lnTo>
                  <a:pt x="3616449" y="0"/>
                </a:lnTo>
                <a:lnTo>
                  <a:pt x="3616449" y="2689566"/>
                </a:lnTo>
                <a:lnTo>
                  <a:pt x="0" y="26895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01354" y="2762332"/>
            <a:ext cx="5010157" cy="2666402"/>
          </a:xfrm>
          <a:custGeom>
            <a:avLst/>
            <a:gdLst/>
            <a:ahLst/>
            <a:cxnLst/>
            <a:rect r="r" b="b" t="t" l="l"/>
            <a:pathLst>
              <a:path h="2666402" w="5010157">
                <a:moveTo>
                  <a:pt x="0" y="0"/>
                </a:moveTo>
                <a:lnTo>
                  <a:pt x="5010157" y="0"/>
                </a:lnTo>
                <a:lnTo>
                  <a:pt x="5010157" y="2666401"/>
                </a:lnTo>
                <a:lnTo>
                  <a:pt x="0" y="26664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04028" y="561263"/>
            <a:ext cx="4052395" cy="4644307"/>
          </a:xfrm>
          <a:custGeom>
            <a:avLst/>
            <a:gdLst/>
            <a:ahLst/>
            <a:cxnLst/>
            <a:rect r="r" b="b" t="t" l="l"/>
            <a:pathLst>
              <a:path h="4644307" w="4052395">
                <a:moveTo>
                  <a:pt x="0" y="0"/>
                </a:moveTo>
                <a:lnTo>
                  <a:pt x="4052395" y="0"/>
                </a:lnTo>
                <a:lnTo>
                  <a:pt x="4052395" y="4644307"/>
                </a:lnTo>
                <a:lnTo>
                  <a:pt x="0" y="46443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5605" r="0" b="-1560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41797" y="5673007"/>
            <a:ext cx="4925237" cy="2427447"/>
          </a:xfrm>
          <a:custGeom>
            <a:avLst/>
            <a:gdLst/>
            <a:ahLst/>
            <a:cxnLst/>
            <a:rect r="r" b="b" t="t" l="l"/>
            <a:pathLst>
              <a:path h="2427447" w="4925237">
                <a:moveTo>
                  <a:pt x="0" y="0"/>
                </a:moveTo>
                <a:lnTo>
                  <a:pt x="4925237" y="0"/>
                </a:lnTo>
                <a:lnTo>
                  <a:pt x="4925237" y="2427448"/>
                </a:lnTo>
                <a:lnTo>
                  <a:pt x="0" y="24274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3492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4269" y="485063"/>
            <a:ext cx="6566504" cy="66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sz="388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Paciente e Historial Clínico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0879" y="1167395"/>
            <a:ext cx="501015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de pacientes e información clínica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4269" y="5546029"/>
            <a:ext cx="5173466" cy="2389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Esta parte representa la información de los pacientes y su atención médica. Permite relacionar las citas, el historial clínico y los tratamientos para organizar la información de cada paciente.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45043" y="3573868"/>
            <a:ext cx="8875059" cy="8229600"/>
          </a:xfrm>
          <a:custGeom>
            <a:avLst/>
            <a:gdLst/>
            <a:ahLst/>
            <a:cxnLst/>
            <a:rect r="r" b="b" t="t" l="l"/>
            <a:pathLst>
              <a:path h="8229600" w="8875059">
                <a:moveTo>
                  <a:pt x="0" y="0"/>
                </a:moveTo>
                <a:lnTo>
                  <a:pt x="8875058" y="0"/>
                </a:lnTo>
                <a:lnTo>
                  <a:pt x="88750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01949" y="-2633191"/>
            <a:ext cx="8875059" cy="8229600"/>
          </a:xfrm>
          <a:custGeom>
            <a:avLst/>
            <a:gdLst/>
            <a:ahLst/>
            <a:cxnLst/>
            <a:rect r="r" b="b" t="t" l="l"/>
            <a:pathLst>
              <a:path h="8229600" w="8875059">
                <a:moveTo>
                  <a:pt x="0" y="0"/>
                </a:moveTo>
                <a:lnTo>
                  <a:pt x="8875059" y="0"/>
                </a:lnTo>
                <a:lnTo>
                  <a:pt x="887505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2192510" y="92773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425238" y="2034465"/>
            <a:ext cx="8875059" cy="8229600"/>
          </a:xfrm>
          <a:custGeom>
            <a:avLst/>
            <a:gdLst/>
            <a:ahLst/>
            <a:cxnLst/>
            <a:rect r="r" b="b" t="t" l="l"/>
            <a:pathLst>
              <a:path h="8229600" w="8875059">
                <a:moveTo>
                  <a:pt x="0" y="0"/>
                </a:moveTo>
                <a:lnTo>
                  <a:pt x="8875059" y="0"/>
                </a:lnTo>
                <a:lnTo>
                  <a:pt x="887505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50471" y="-4492512"/>
            <a:ext cx="8875059" cy="8229600"/>
          </a:xfrm>
          <a:custGeom>
            <a:avLst/>
            <a:gdLst/>
            <a:ahLst/>
            <a:cxnLst/>
            <a:rect r="r" b="b" t="t" l="l"/>
            <a:pathLst>
              <a:path h="8229600" w="8875059">
                <a:moveTo>
                  <a:pt x="0" y="0"/>
                </a:moveTo>
                <a:lnTo>
                  <a:pt x="8875058" y="0"/>
                </a:lnTo>
                <a:lnTo>
                  <a:pt x="88750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87097" y="392178"/>
            <a:ext cx="3933155" cy="2712521"/>
          </a:xfrm>
          <a:custGeom>
            <a:avLst/>
            <a:gdLst/>
            <a:ahLst/>
            <a:cxnLst/>
            <a:rect r="r" b="b" t="t" l="l"/>
            <a:pathLst>
              <a:path h="2712521" w="3933155">
                <a:moveTo>
                  <a:pt x="0" y="0"/>
                </a:moveTo>
                <a:lnTo>
                  <a:pt x="3933155" y="0"/>
                </a:lnTo>
                <a:lnTo>
                  <a:pt x="3933155" y="2712521"/>
                </a:lnTo>
                <a:lnTo>
                  <a:pt x="0" y="2712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80874" y="3201552"/>
            <a:ext cx="3578426" cy="2947712"/>
          </a:xfrm>
          <a:custGeom>
            <a:avLst/>
            <a:gdLst/>
            <a:ahLst/>
            <a:cxnLst/>
            <a:rect r="r" b="b" t="t" l="l"/>
            <a:pathLst>
              <a:path h="2947712" w="3578426">
                <a:moveTo>
                  <a:pt x="0" y="0"/>
                </a:moveTo>
                <a:lnTo>
                  <a:pt x="3578426" y="0"/>
                </a:lnTo>
                <a:lnTo>
                  <a:pt x="3578426" y="2947713"/>
                </a:lnTo>
                <a:lnTo>
                  <a:pt x="0" y="2947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17364" y="6149265"/>
            <a:ext cx="4327678" cy="2717730"/>
          </a:xfrm>
          <a:custGeom>
            <a:avLst/>
            <a:gdLst/>
            <a:ahLst/>
            <a:cxnLst/>
            <a:rect r="r" b="b" t="t" l="l"/>
            <a:pathLst>
              <a:path h="2717730" w="4327678">
                <a:moveTo>
                  <a:pt x="0" y="0"/>
                </a:moveTo>
                <a:lnTo>
                  <a:pt x="4327679" y="0"/>
                </a:lnTo>
                <a:lnTo>
                  <a:pt x="4327679" y="2717729"/>
                </a:lnTo>
                <a:lnTo>
                  <a:pt x="0" y="27177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1" t="0" r="-47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683380" y="6149265"/>
            <a:ext cx="5575920" cy="2420064"/>
          </a:xfrm>
          <a:custGeom>
            <a:avLst/>
            <a:gdLst/>
            <a:ahLst/>
            <a:cxnLst/>
            <a:rect r="r" b="b" t="t" l="l"/>
            <a:pathLst>
              <a:path h="2420064" w="5575920">
                <a:moveTo>
                  <a:pt x="0" y="0"/>
                </a:moveTo>
                <a:lnTo>
                  <a:pt x="5575920" y="0"/>
                </a:lnTo>
                <a:lnTo>
                  <a:pt x="5575920" y="2420064"/>
                </a:lnTo>
                <a:lnTo>
                  <a:pt x="0" y="24200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81138" y="806647"/>
            <a:ext cx="4344752" cy="4336853"/>
          </a:xfrm>
          <a:custGeom>
            <a:avLst/>
            <a:gdLst/>
            <a:ahLst/>
            <a:cxnLst/>
            <a:rect r="r" b="b" t="t" l="l"/>
            <a:pathLst>
              <a:path h="4336853" w="4344752">
                <a:moveTo>
                  <a:pt x="0" y="0"/>
                </a:moveTo>
                <a:lnTo>
                  <a:pt x="4344752" y="0"/>
                </a:lnTo>
                <a:lnTo>
                  <a:pt x="4344752" y="4336853"/>
                </a:lnTo>
                <a:lnTo>
                  <a:pt x="0" y="4336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76356" y="2526713"/>
            <a:ext cx="5078155" cy="3376973"/>
          </a:xfrm>
          <a:custGeom>
            <a:avLst/>
            <a:gdLst/>
            <a:ahLst/>
            <a:cxnLst/>
            <a:rect r="r" b="b" t="t" l="l"/>
            <a:pathLst>
              <a:path h="3376973" w="5078155">
                <a:moveTo>
                  <a:pt x="0" y="0"/>
                </a:moveTo>
                <a:lnTo>
                  <a:pt x="5078155" y="0"/>
                </a:lnTo>
                <a:lnTo>
                  <a:pt x="5078155" y="3376973"/>
                </a:lnTo>
                <a:lnTo>
                  <a:pt x="0" y="33769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78043" y="315978"/>
            <a:ext cx="6541889" cy="134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sz="388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Farmacia y administración</a:t>
            </a:r>
          </a:p>
          <a:p>
            <a:pPr algn="ctr">
              <a:lnSpc>
                <a:spcPts val="5432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14444" y="1124868"/>
            <a:ext cx="613794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de medicamentos y control del sistema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077440"/>
            <a:ext cx="5173466" cy="278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Esta sección representa la gestión de las recetas, los medicamentos y el inventario de la farmacia. También incluye al administrador, encargado de las funciones administrativas que contempla el sistema.</a:t>
            </a:r>
          </a:p>
          <a:p>
            <a:pPr algn="ctr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209662">
            <a:off x="13242417" y="-491963"/>
            <a:ext cx="10091166" cy="10797940"/>
          </a:xfrm>
          <a:custGeom>
            <a:avLst/>
            <a:gdLst/>
            <a:ahLst/>
            <a:cxnLst/>
            <a:rect r="r" b="b" t="t" l="l"/>
            <a:pathLst>
              <a:path h="10797940" w="10091166">
                <a:moveTo>
                  <a:pt x="0" y="0"/>
                </a:moveTo>
                <a:lnTo>
                  <a:pt x="10091166" y="0"/>
                </a:lnTo>
                <a:lnTo>
                  <a:pt x="10091166" y="10797941"/>
                </a:lnTo>
                <a:lnTo>
                  <a:pt x="0" y="10797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262200" y="1739481"/>
            <a:ext cx="13763600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spc="-6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ESTRUCTURA DEL PROYECTO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881344" y="-5743359"/>
            <a:ext cx="8875059" cy="8229600"/>
          </a:xfrm>
          <a:custGeom>
            <a:avLst/>
            <a:gdLst/>
            <a:ahLst/>
            <a:cxnLst/>
            <a:rect r="r" b="b" t="t" l="l"/>
            <a:pathLst>
              <a:path h="8229600" w="8875059">
                <a:moveTo>
                  <a:pt x="0" y="0"/>
                </a:moveTo>
                <a:lnTo>
                  <a:pt x="8875059" y="0"/>
                </a:lnTo>
                <a:lnTo>
                  <a:pt x="887505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05523" y="3493025"/>
            <a:ext cx="11476953" cy="393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06078" indent="-403039" lvl="1">
              <a:lnSpc>
                <a:spcPts val="5226"/>
              </a:lnSpc>
              <a:spcBef>
                <a:spcPct val="0"/>
              </a:spcBef>
              <a:buFont typeface="Arial"/>
              <a:buChar char="•"/>
            </a:pPr>
            <a:r>
              <a:rPr lang="en-US" sz="3733" spc="-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App.ja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clase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pri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l.</a:t>
            </a:r>
          </a:p>
          <a:p>
            <a:pPr algn="ctr" marL="806078" indent="-403039" lvl="1">
              <a:lnSpc>
                <a:spcPts val="5226"/>
              </a:lnSpc>
              <a:spcBef>
                <a:spcPct val="0"/>
              </a:spcBef>
              <a:buFont typeface="Arial"/>
              <a:buChar char="•"/>
            </a:pP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oma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n/ →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onti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modelo.</a:t>
            </a:r>
          </a:p>
          <a:p>
            <a:pPr algn="ctr" marL="806078" indent="-403039" lvl="1">
              <a:lnSpc>
                <a:spcPts val="5226"/>
              </a:lnSpc>
              <a:spcBef>
                <a:spcPct val="0"/>
              </a:spcBef>
              <a:buFont typeface="Arial"/>
              <a:buChar char="•"/>
            </a:pP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→ c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ese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rva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ctr" marL="806078" indent="-403039" lvl="1">
              <a:lnSpc>
                <a:spcPts val="5226"/>
              </a:lnSpc>
              <a:spcBef>
                <a:spcPct val="0"/>
              </a:spcBef>
              <a:buFont typeface="Arial"/>
              <a:buChar char="•"/>
            </a:pP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cs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/uml/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ia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s.</a:t>
            </a:r>
          </a:p>
          <a:p>
            <a:pPr algn="ctr" marL="806078" indent="-403039" lvl="1">
              <a:lnSpc>
                <a:spcPts val="5226"/>
              </a:lnSpc>
              <a:spcBef>
                <a:spcPct val="0"/>
              </a:spcBef>
              <a:buFont typeface="Arial"/>
              <a:buChar char="•"/>
            </a:pP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README.md →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cume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ó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roy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</a:t>
            </a:r>
            <a:r>
              <a:rPr lang="en-US" sz="3733" spc="-4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algn="ctr" marL="0" indent="0" lvl="0">
              <a:lnSpc>
                <a:spcPts val="5226"/>
              </a:lnSpc>
              <a:spcBef>
                <a:spcPct val="0"/>
              </a:spcBef>
            </a:pPr>
          </a:p>
        </p:txBody>
      </p:sp>
      <p:sp>
        <p:nvSpPr>
          <p:cNvPr name="AutoShape 6" id="6"/>
          <p:cNvSpPr/>
          <p:nvPr/>
        </p:nvSpPr>
        <p:spPr>
          <a:xfrm>
            <a:off x="12192510" y="92773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50471" y="4766098"/>
            <a:ext cx="8875059" cy="8229600"/>
          </a:xfrm>
          <a:custGeom>
            <a:avLst/>
            <a:gdLst/>
            <a:ahLst/>
            <a:cxnLst/>
            <a:rect r="r" b="b" t="t" l="l"/>
            <a:pathLst>
              <a:path h="8229600" w="8875059">
                <a:moveTo>
                  <a:pt x="0" y="0"/>
                </a:moveTo>
                <a:lnTo>
                  <a:pt x="8875058" y="0"/>
                </a:lnTo>
                <a:lnTo>
                  <a:pt x="88750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098141" y="-578496"/>
            <a:ext cx="8875059" cy="8229600"/>
          </a:xfrm>
          <a:custGeom>
            <a:avLst/>
            <a:gdLst/>
            <a:ahLst/>
            <a:cxnLst/>
            <a:rect r="r" b="b" t="t" l="l"/>
            <a:pathLst>
              <a:path h="8229600" w="8875059">
                <a:moveTo>
                  <a:pt x="0" y="0"/>
                </a:moveTo>
                <a:lnTo>
                  <a:pt x="8875059" y="0"/>
                </a:lnTo>
                <a:lnTo>
                  <a:pt x="887505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2192510" y="92773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90994" y="634365"/>
            <a:ext cx="14906012" cy="9378632"/>
          </a:xfrm>
          <a:custGeom>
            <a:avLst/>
            <a:gdLst/>
            <a:ahLst/>
            <a:cxnLst/>
            <a:rect r="r" b="b" t="t" l="l"/>
            <a:pathLst>
              <a:path h="9378632" w="14906012">
                <a:moveTo>
                  <a:pt x="0" y="0"/>
                </a:moveTo>
                <a:lnTo>
                  <a:pt x="14906012" y="0"/>
                </a:lnTo>
                <a:lnTo>
                  <a:pt x="14906012" y="9378632"/>
                </a:lnTo>
                <a:lnTo>
                  <a:pt x="0" y="93786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78" r="0" b="-297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93722" y="0"/>
            <a:ext cx="8500557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0"/>
              </a:lnSpc>
              <a:spcBef>
                <a:spcPct val="0"/>
              </a:spcBef>
            </a:pPr>
            <a:r>
              <a:rPr lang="en-US" b="true" sz="4200" i="true" spc="-378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CLASES PRINCIPALES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0997" y="828675"/>
            <a:ext cx="12172833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spc="-6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FUNCIONALIDADES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488767" y="6843560"/>
            <a:ext cx="11148473" cy="8229600"/>
          </a:xfrm>
          <a:custGeom>
            <a:avLst/>
            <a:gdLst/>
            <a:ahLst/>
            <a:cxnLst/>
            <a:rect r="r" b="b" t="t" l="l"/>
            <a:pathLst>
              <a:path h="8229600" w="11148473">
                <a:moveTo>
                  <a:pt x="0" y="0"/>
                </a:moveTo>
                <a:lnTo>
                  <a:pt x="11148473" y="0"/>
                </a:lnTo>
                <a:lnTo>
                  <a:pt x="111484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14531" y="-6654165"/>
            <a:ext cx="11148473" cy="8229600"/>
          </a:xfrm>
          <a:custGeom>
            <a:avLst/>
            <a:gdLst/>
            <a:ahLst/>
            <a:cxnLst/>
            <a:rect r="r" b="b" t="t" l="l"/>
            <a:pathLst>
              <a:path h="8229600" w="11148473">
                <a:moveTo>
                  <a:pt x="0" y="0"/>
                </a:moveTo>
                <a:lnTo>
                  <a:pt x="11148473" y="0"/>
                </a:lnTo>
                <a:lnTo>
                  <a:pt x="111484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37062" y="4305464"/>
            <a:ext cx="6296354" cy="5981536"/>
          </a:xfrm>
          <a:custGeom>
            <a:avLst/>
            <a:gdLst/>
            <a:ahLst/>
            <a:cxnLst/>
            <a:rect r="r" b="b" t="t" l="l"/>
            <a:pathLst>
              <a:path h="5981536" w="6296354">
                <a:moveTo>
                  <a:pt x="0" y="0"/>
                </a:moveTo>
                <a:lnTo>
                  <a:pt x="6296354" y="0"/>
                </a:lnTo>
                <a:lnTo>
                  <a:pt x="6296354" y="5981536"/>
                </a:lnTo>
                <a:lnTo>
                  <a:pt x="0" y="5981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20997" y="2371255"/>
            <a:ext cx="12964243" cy="447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permite: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tos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mplo.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pac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entes, méd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s, c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t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atam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ntos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sult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nf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aci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ón m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nte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ú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gráfic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tiona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med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cam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ntos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ol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d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dm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dor.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Regis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ccion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m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nte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aud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í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Comparar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fec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 h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de c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 spc="-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s. 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7775" y="4051357"/>
            <a:ext cx="10372449" cy="447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proy</a:t>
            </a:r>
            <a:r>
              <a:rPr lang="en-US" sz="2799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ecto permite aplicar la Programación Orientada a Objetos mediante un sistema de gestión hospitalaria. La utilización de clases, atributos, métodos y relaciones permite organizar de manera estructurada la información de pacientes, médicos, citas, tratamientos, medicamentos e inventario.</a:t>
            </a:r>
          </a:p>
          <a:p>
            <a:pPr algn="ctr">
              <a:lnSpc>
                <a:spcPts val="3919"/>
              </a:lnSpc>
            </a:pPr>
            <a:r>
              <a:rPr lang="en-US" sz="2799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Además, el diagrama UML facilita visualizar cómo se relacionan los diferentes elementos del sistema.</a:t>
            </a:r>
          </a:p>
          <a:p>
            <a:pPr algn="ctr">
              <a:lnSpc>
                <a:spcPts val="391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750514" y="2324043"/>
            <a:ext cx="8500557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spc="-6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CONCLUSIÓN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636979">
            <a:off x="-3018009" y="-2874902"/>
            <a:ext cx="10091166" cy="10797940"/>
          </a:xfrm>
          <a:custGeom>
            <a:avLst/>
            <a:gdLst/>
            <a:ahLst/>
            <a:cxnLst/>
            <a:rect r="r" b="b" t="t" l="l"/>
            <a:pathLst>
              <a:path h="10797940" w="10091166">
                <a:moveTo>
                  <a:pt x="0" y="0"/>
                </a:moveTo>
                <a:lnTo>
                  <a:pt x="10091166" y="0"/>
                </a:lnTo>
                <a:lnTo>
                  <a:pt x="10091166" y="10797940"/>
                </a:lnTo>
                <a:lnTo>
                  <a:pt x="0" y="10797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5377700" y="4357594"/>
            <a:ext cx="8875059" cy="8229600"/>
          </a:xfrm>
          <a:custGeom>
            <a:avLst/>
            <a:gdLst/>
            <a:ahLst/>
            <a:cxnLst/>
            <a:rect r="r" b="b" t="t" l="l"/>
            <a:pathLst>
              <a:path h="8229600" w="8875059">
                <a:moveTo>
                  <a:pt x="0" y="0"/>
                </a:moveTo>
                <a:lnTo>
                  <a:pt x="8875059" y="0"/>
                </a:lnTo>
                <a:lnTo>
                  <a:pt x="887505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2192510" y="92773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76652" y="3332480"/>
            <a:ext cx="12134697" cy="312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19"/>
              </a:lnSpc>
            </a:pPr>
            <a:r>
              <a:rPr lang="en-US" b="true" sz="12000" spc="-108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¡GRACIAS POR </a:t>
            </a:r>
          </a:p>
          <a:p>
            <a:pPr algn="ctr" marL="0" indent="0" lvl="0">
              <a:lnSpc>
                <a:spcPts val="11519"/>
              </a:lnSpc>
            </a:pPr>
            <a:r>
              <a:rPr lang="en-US" b="true" sz="12000" spc="-108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 ATENCIÓN!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530779">
            <a:off x="10165765" y="3859330"/>
            <a:ext cx="10091166" cy="10797940"/>
          </a:xfrm>
          <a:custGeom>
            <a:avLst/>
            <a:gdLst/>
            <a:ahLst/>
            <a:cxnLst/>
            <a:rect r="r" b="b" t="t" l="l"/>
            <a:pathLst>
              <a:path h="10797940" w="10091166">
                <a:moveTo>
                  <a:pt x="0" y="0"/>
                </a:moveTo>
                <a:lnTo>
                  <a:pt x="10091166" y="0"/>
                </a:lnTo>
                <a:lnTo>
                  <a:pt x="10091166" y="10797940"/>
                </a:lnTo>
                <a:lnTo>
                  <a:pt x="0" y="10797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4681805">
            <a:off x="-6838543" y="1528292"/>
            <a:ext cx="12488169" cy="7470196"/>
          </a:xfrm>
          <a:custGeom>
            <a:avLst/>
            <a:gdLst/>
            <a:ahLst/>
            <a:cxnLst/>
            <a:rect r="r" b="b" t="t" l="l"/>
            <a:pathLst>
              <a:path h="7470196" w="12488169">
                <a:moveTo>
                  <a:pt x="0" y="0"/>
                </a:moveTo>
                <a:lnTo>
                  <a:pt x="12488169" y="0"/>
                </a:lnTo>
                <a:lnTo>
                  <a:pt x="12488169" y="7470196"/>
                </a:lnTo>
                <a:lnTo>
                  <a:pt x="0" y="7470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735456" y="-4688057"/>
            <a:ext cx="8875059" cy="8229600"/>
          </a:xfrm>
          <a:custGeom>
            <a:avLst/>
            <a:gdLst/>
            <a:ahLst/>
            <a:cxnLst/>
            <a:rect r="r" b="b" t="t" l="l"/>
            <a:pathLst>
              <a:path h="8229600" w="8875059">
                <a:moveTo>
                  <a:pt x="0" y="0"/>
                </a:moveTo>
                <a:lnTo>
                  <a:pt x="8875059" y="0"/>
                </a:lnTo>
                <a:lnTo>
                  <a:pt x="887505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-1014223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12192510" y="92773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DAHYbCA9Dic</dc:identifier>
  <dcterms:modified xsi:type="dcterms:W3CDTF">2011-08-01T06:04:30Z</dcterms:modified>
  <cp:revision>1</cp:revision>
  <dc:title>Presentación - Proyecto - Diapositivas modernas, minimalistas y simples, color beige</dc:title>
</cp:coreProperties>
</file>